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16"/>
  </p:notesMasterIdLst>
  <p:sldIdLst>
    <p:sldId id="347" r:id="rId2"/>
    <p:sldId id="316" r:id="rId3"/>
    <p:sldId id="353" r:id="rId4"/>
    <p:sldId id="348" r:id="rId5"/>
    <p:sldId id="352" r:id="rId6"/>
    <p:sldId id="355" r:id="rId7"/>
    <p:sldId id="357" r:id="rId8"/>
    <p:sldId id="351" r:id="rId9"/>
    <p:sldId id="354" r:id="rId10"/>
    <p:sldId id="359" r:id="rId11"/>
    <p:sldId id="358" r:id="rId12"/>
    <p:sldId id="356" r:id="rId13"/>
    <p:sldId id="344" r:id="rId14"/>
    <p:sldId id="346" r:id="rId15"/>
  </p:sldIdLst>
  <p:sldSz cx="9144000" cy="5143500" type="screen16x9"/>
  <p:notesSz cx="6858000" cy="9144000"/>
  <p:embeddedFontLst>
    <p:embeddedFont>
      <p:font typeface="나눔고딕" panose="020B0604020202020204" charset="-127"/>
      <p:regular r:id="rId17"/>
      <p:bold r:id="rId18"/>
    </p:embeddedFont>
    <p:embeddedFont>
      <p:font typeface="나눔고딕 ExtraBold" panose="020B0604020202020204" charset="-127"/>
      <p:bold r:id="rId19"/>
    </p:embeddedFont>
    <p:embeddedFont>
      <p:font typeface="AR HERMANN" panose="020B0604020202020204" charset="0"/>
      <p:regular r:id="rId20"/>
    </p:embeddedFont>
    <p:embeddedFont>
      <p:font typeface="맑은 고딕" panose="020B0503020000020004" pitchFamily="34" charset="-127"/>
      <p:regular r:id="rId21"/>
      <p:bold r:id="rId22"/>
    </p:embeddedFont>
  </p:embeddedFontLst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0F2F1A-E138-C54C-A275-8B4132153BBC}" v="3" dt="2025-12-14T09:23:05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유준" userId="61184928-e97b-442d-99aa-83485643fa96" providerId="ADAL" clId="{F4BBBE47-EE53-5EE1-BBAE-36D32E787C29}"/>
    <pc:docChg chg="modShowInfo">
      <pc:chgData name="이 유준" userId="61184928-e97b-442d-99aa-83485643fa96" providerId="ADAL" clId="{F4BBBE47-EE53-5EE1-BBAE-36D32E787C29}" dt="2025-12-14T09:23:05.132" v="2" actId="274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F6C2B-BA23-4B6F-A16C-E83E1A24F26C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09C8C-1C0B-460F-A188-A3D13441D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14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6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8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98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35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92D050"/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3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14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19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25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031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13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73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19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27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5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92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07168"/>
            <a:ext cx="7886700" cy="3425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51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hyperlink" Target="https://www.youtube.com/c/SoftwareToolTime" TargetMode="External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524769" y="1802313"/>
            <a:ext cx="5630359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altLang="ko-KR" sz="4400">
                <a:solidFill>
                  <a:schemeClr val="accent4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S</a:t>
            </a:r>
            <a:r>
              <a:rPr lang="en-US" altLang="ko-KR" sz="4400">
                <a:latin typeface="AR HERMANN" panose="02000000000000000000" pitchFamily="2" charset="0"/>
              </a:rPr>
              <a:t>oft</a:t>
            </a:r>
            <a:r>
              <a:rPr lang="en-US" altLang="ko-KR" sz="4400">
                <a:solidFill>
                  <a:schemeClr val="accent5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w</a:t>
            </a:r>
            <a:r>
              <a:rPr lang="en-US" altLang="ko-KR" sz="4400">
                <a:latin typeface="AR HERMANN" panose="02000000000000000000" pitchFamily="2" charset="0"/>
              </a:rPr>
              <a:t>a</a:t>
            </a:r>
            <a:r>
              <a:rPr lang="en-US" altLang="ko-KR" sz="4400">
                <a:solidFill>
                  <a:schemeClr val="accent6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r</a:t>
            </a:r>
            <a:r>
              <a:rPr lang="en-US" altLang="ko-KR" sz="4400">
                <a:latin typeface="AR HERMANN" panose="02000000000000000000" pitchFamily="2" charset="0"/>
              </a:rPr>
              <a:t>e </a:t>
            </a:r>
            <a:r>
              <a:rPr lang="en-US" altLang="ko-KR" sz="4400">
                <a:solidFill>
                  <a:schemeClr val="accent6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>
                <a:latin typeface="AR HERMANN" panose="02000000000000000000" pitchFamily="2" charset="0"/>
              </a:rPr>
              <a:t>oo</a:t>
            </a:r>
            <a:r>
              <a:rPr lang="en-US" altLang="ko-KR" sz="4400">
                <a:solidFill>
                  <a:schemeClr val="accent2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l</a:t>
            </a:r>
            <a:r>
              <a:rPr lang="en-US" altLang="ko-KR" sz="4400">
                <a:latin typeface="AR HERMANN" panose="02000000000000000000" pitchFamily="2" charset="0"/>
              </a:rPr>
              <a:t> </a:t>
            </a:r>
            <a:r>
              <a:rPr lang="en-US" altLang="ko-KR" sz="4400">
                <a:solidFill>
                  <a:schemeClr val="accent4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>
                <a:latin typeface="AR HERMANN" panose="02000000000000000000" pitchFamily="2" charset="0"/>
              </a:rPr>
              <a:t>ime</a:t>
            </a:r>
            <a:endParaRPr lang="ko-KR" altLang="en-US" sz="4400">
              <a:latin typeface="AR HERMANN" panose="02000000000000000000" pitchFamily="2" charset="0"/>
            </a:endParaRPr>
          </a:p>
        </p:txBody>
      </p:sp>
      <p:pic>
        <p:nvPicPr>
          <p:cNvPr id="12" name="그래픽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8880" y="1780171"/>
            <a:ext cx="1224267" cy="124758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1026" name="Picture 2" descr="Creative Commons">
            <a:extLst>
              <a:ext uri="{FF2B5EF4-FFF2-40B4-BE49-F238E27FC236}">
                <a16:creationId xmlns:a16="http://schemas.microsoft.com/office/drawing/2014/main" id="{2DCAC4BA-2943-451C-A1DB-EBE3FE34B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899" y="2683390"/>
            <a:ext cx="1287379" cy="31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2531412B-F6C5-4F12-9A19-53BF3016D2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6" presetClass="entr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27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3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30" tmFilter="0, 0; 0.125,0.2665; 0.25,0.4; 0.375,0.465; 0.5,0.5;  0.625,0.535; 0.75,0.6; 0.875,0.7335; 1,1">
                                          <p:stCondLst>
                                            <p:cond delay="83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15" tmFilter="0, 0; 0.125,0.2665; 0.25,0.4; 0.375,0.465; 0.5,0.5;  0.625,0.535; 0.75,0.6; 0.875,0.7335; 1,1">
                                          <p:stCondLst>
                                            <p:cond delay="16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5" tmFilter="0, 0; 0.125,0.2665; 0.25,0.4; 0.375,0.465; 0.5,0.5;  0.625,0.535; 0.75,0.6; 0.875,0.7335; 1,1">
                                          <p:stCondLst>
                                            <p:cond delay="20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33">
                                          <p:stCondLst>
                                            <p:cond delay="81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208" decel="50000">
                                          <p:stCondLst>
                                            <p:cond delay="84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3">
                                          <p:stCondLst>
                                            <p:cond delay="16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208" decel="50000">
                                          <p:stCondLst>
                                            <p:cond delay="167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3">
                                          <p:stCondLst>
                                            <p:cond delay="205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208" decel="50000">
                                          <p:stCondLst>
                                            <p:cond delay="20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3">
                                          <p:stCondLst>
                                            <p:cond delay="226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20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9" grpId="0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CCDFD-EBD7-4FD7-8F4F-A276841D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39" y="299037"/>
            <a:ext cx="7101784" cy="799582"/>
          </a:xfrm>
        </p:spPr>
        <p:txBody>
          <a:bodyPr>
            <a:noAutofit/>
          </a:bodyPr>
          <a:lstStyle/>
          <a:p>
            <a:r>
              <a:rPr lang="en-US" altLang="ko-KR" sz="2800" b="1">
                <a:solidFill>
                  <a:srgbClr val="00B0F0"/>
                </a:solidFill>
                <a:latin typeface="+mn-lt"/>
                <a:ea typeface="+mn-ea"/>
              </a:rPr>
              <a:t>JIRA</a:t>
            </a:r>
            <a:r>
              <a:rPr lang="ko-KR" altLang="en-US" sz="2800" b="1">
                <a:solidFill>
                  <a:srgbClr val="00B0F0"/>
                </a:solidFill>
                <a:latin typeface="+mn-lt"/>
                <a:ea typeface="+mn-ea"/>
              </a:rPr>
              <a:t>로 프로젝트 효율적으로 관리하기 </a:t>
            </a:r>
            <a:r>
              <a:rPr lang="en-US" altLang="ko-KR" sz="2800" b="1">
                <a:solidFill>
                  <a:srgbClr val="00B0F0"/>
                </a:solidFill>
                <a:latin typeface="+mn-lt"/>
                <a:ea typeface="+mn-ea"/>
              </a:rPr>
              <a:t>1</a:t>
            </a:r>
            <a:endParaRPr lang="ko-KR" altLang="en-US" sz="2800" b="1">
              <a:solidFill>
                <a:srgbClr val="00B0F0"/>
              </a:solidFill>
              <a:latin typeface="+mn-lt"/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C38BD-6602-4EC4-A99D-FC94ECF4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839" y="1159017"/>
            <a:ext cx="7302524" cy="3543612"/>
          </a:xfrm>
        </p:spPr>
        <p:txBody>
          <a:bodyPr>
            <a:normAutofit/>
          </a:bodyPr>
          <a:lstStyle/>
          <a:p>
            <a:r>
              <a:rPr lang="ko-KR" altLang="en-US" sz="2000"/>
              <a:t>강사</a:t>
            </a:r>
            <a:endParaRPr lang="en-US" altLang="ko-KR" sz="2000"/>
          </a:p>
          <a:p>
            <a:pPr lvl="1"/>
            <a:r>
              <a:rPr lang="ko-KR" altLang="en-US" sz="1600"/>
              <a:t>아주대학교 소프트웨어학과 이유준</a:t>
            </a:r>
            <a:br>
              <a:rPr lang="en-US" altLang="ko-KR" sz="1600"/>
            </a:br>
            <a:endParaRPr lang="en-US" altLang="ko-KR" sz="1600"/>
          </a:p>
          <a:p>
            <a:r>
              <a:rPr lang="ko-KR" altLang="en-US" sz="2000"/>
              <a:t>목표</a:t>
            </a:r>
            <a:endParaRPr lang="en-US" altLang="ko-KR" sz="2000"/>
          </a:p>
          <a:p>
            <a:pPr lvl="1"/>
            <a:r>
              <a:rPr lang="ko-KR" altLang="en-US" sz="1600"/>
              <a:t>소프트웨어 개발 방법론</a:t>
            </a:r>
            <a:endParaRPr lang="en-US" altLang="ko-KR" sz="1600"/>
          </a:p>
          <a:p>
            <a:pPr lvl="1"/>
            <a:r>
              <a:rPr lang="en-US" altLang="ko-KR" sz="1600"/>
              <a:t>JIRA</a:t>
            </a:r>
            <a:r>
              <a:rPr lang="ko-KR" altLang="en-US" sz="1600"/>
              <a:t>란</a:t>
            </a:r>
            <a:r>
              <a:rPr lang="en-US" altLang="ko-KR" sz="1600"/>
              <a:t>?</a:t>
            </a:r>
          </a:p>
          <a:p>
            <a:pPr lvl="1"/>
            <a:r>
              <a:rPr lang="en-US" altLang="ko-KR" sz="1600"/>
              <a:t>JIRA</a:t>
            </a:r>
            <a:r>
              <a:rPr lang="ko-KR" altLang="en-US" sz="1600"/>
              <a:t>의 기본 사용방법</a:t>
            </a:r>
            <a:br>
              <a:rPr lang="en-US" altLang="ko-KR" sz="1600"/>
            </a:br>
            <a:endParaRPr lang="en-US" altLang="ko-KR" sz="1600"/>
          </a:p>
          <a:p>
            <a:r>
              <a:rPr lang="ko-KR" altLang="en-US" sz="2000"/>
              <a:t>사전 준비</a:t>
            </a:r>
            <a:endParaRPr lang="en-US" altLang="ko-KR" sz="2000"/>
          </a:p>
          <a:p>
            <a:pPr lvl="1"/>
            <a:r>
              <a:rPr lang="en-US" altLang="ko-KR" sz="1700" err="1"/>
              <a:t>Atlassin</a:t>
            </a:r>
            <a:r>
              <a:rPr lang="ko-KR" altLang="en-US" sz="1700"/>
              <a:t> 계정</a:t>
            </a:r>
            <a:endParaRPr lang="en-US" altLang="ko-KR" sz="1700"/>
          </a:p>
          <a:p>
            <a:pPr lvl="1"/>
            <a:r>
              <a:rPr lang="ko-KR" altLang="en-US" sz="1700"/>
              <a:t>네트워크 접속이 가능한 디바이스</a:t>
            </a:r>
            <a:endParaRPr lang="en-US" altLang="ko-KR" sz="1700"/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06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2C01A-B52E-AF08-011C-6C00FB21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98D1F-415A-DF7A-4AE7-335FF7AA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소프트웨어 개발 방법론</a:t>
            </a:r>
            <a:r>
              <a:rPr lang="en-US" altLang="ko-KR">
                <a:ea typeface="+mn-ea"/>
              </a:rPr>
              <a:t>?</a:t>
            </a:r>
            <a:endParaRPr lang="ko-KR" altLang="en-US"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EC51AC-DB36-1226-D618-87B4274F5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err="1"/>
              <a:t>워터폴</a:t>
            </a:r>
            <a:r>
              <a:rPr lang="ko-KR" altLang="en-US"/>
              <a:t> 방법론</a:t>
            </a:r>
            <a:endParaRPr lang="en-US" altLang="ko-KR"/>
          </a:p>
          <a:p>
            <a:pPr lvl="1"/>
            <a:r>
              <a:rPr lang="ko-KR" altLang="en-US"/>
              <a:t>기존의 보편적인 설계 방법</a:t>
            </a:r>
            <a:endParaRPr lang="en-US" altLang="ko-KR"/>
          </a:p>
          <a:p>
            <a:pPr lvl="1"/>
            <a:r>
              <a:rPr lang="ko-KR" altLang="en-US"/>
              <a:t>설계 </a:t>
            </a:r>
            <a:r>
              <a:rPr lang="en-US" altLang="ko-KR"/>
              <a:t>– </a:t>
            </a:r>
            <a:r>
              <a:rPr lang="ko-KR" altLang="en-US"/>
              <a:t>디자인 </a:t>
            </a:r>
            <a:r>
              <a:rPr lang="en-US" altLang="ko-KR"/>
              <a:t>– </a:t>
            </a:r>
            <a:r>
              <a:rPr lang="ko-KR" altLang="en-US"/>
              <a:t>개발 </a:t>
            </a:r>
            <a:r>
              <a:rPr lang="en-US" altLang="ko-KR"/>
              <a:t>– </a:t>
            </a:r>
            <a:r>
              <a:rPr lang="ko-KR" altLang="en-US"/>
              <a:t>테스트 </a:t>
            </a:r>
            <a:r>
              <a:rPr lang="en-US" altLang="ko-KR"/>
              <a:t>– </a:t>
            </a:r>
            <a:r>
              <a:rPr lang="ko-KR" altLang="en-US"/>
              <a:t>배포 의 과정이 순차적으로 진행</a:t>
            </a:r>
            <a:endParaRPr lang="en-US" altLang="ko-KR"/>
          </a:p>
          <a:p>
            <a:pPr lvl="1"/>
            <a:r>
              <a:rPr lang="ko-KR" altLang="en-US"/>
              <a:t>요구사항에 대한 빠른 반응이 불가능해 유연성이 떨어짐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애자일 방법론</a:t>
            </a:r>
            <a:endParaRPr lang="en-US" altLang="ko-KR"/>
          </a:p>
          <a:p>
            <a:pPr lvl="1"/>
            <a:r>
              <a:rPr lang="ko-KR" altLang="en-US"/>
              <a:t>일정한 주기</a:t>
            </a:r>
            <a:r>
              <a:rPr lang="en-US" altLang="ko-KR"/>
              <a:t>(</a:t>
            </a:r>
            <a:r>
              <a:rPr lang="ko-KR" altLang="en-US"/>
              <a:t>스프린트</a:t>
            </a:r>
            <a:r>
              <a:rPr lang="en-US" altLang="ko-KR"/>
              <a:t>)</a:t>
            </a:r>
            <a:r>
              <a:rPr lang="ko-KR" altLang="en-US"/>
              <a:t>를 가지고 제품을 </a:t>
            </a:r>
            <a:r>
              <a:rPr lang="ko-KR" altLang="en-US" err="1"/>
              <a:t>개발해나가는</a:t>
            </a:r>
            <a:r>
              <a:rPr lang="ko-KR" altLang="en-US"/>
              <a:t> 방법</a:t>
            </a:r>
            <a:endParaRPr lang="en-US" altLang="ko-KR"/>
          </a:p>
          <a:p>
            <a:pPr lvl="1"/>
            <a:r>
              <a:rPr lang="ko-KR" altLang="en-US"/>
              <a:t>요구사항을 빠르게 반영 가능</a:t>
            </a:r>
            <a:endParaRPr lang="en-US" altLang="ko-KR"/>
          </a:p>
          <a:p>
            <a:pPr lvl="1"/>
            <a:r>
              <a:rPr lang="en-US" altLang="ko-KR"/>
              <a:t>2001</a:t>
            </a:r>
            <a:r>
              <a:rPr lang="ko-KR" altLang="en-US"/>
              <a:t>년 애자일 선언문이 애자일의 시작</a:t>
            </a:r>
            <a:endParaRPr lang="en-US" altLang="ko-KR"/>
          </a:p>
          <a:p>
            <a:pPr lvl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1853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B3E8C-D22E-9C12-85DD-AF1BF949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프로젝트 관리 도구</a:t>
            </a:r>
            <a:r>
              <a:rPr lang="en-US" altLang="ko-KR">
                <a:ea typeface="+mn-ea"/>
              </a:rPr>
              <a:t>?</a:t>
            </a:r>
            <a:endParaRPr lang="ko-KR" altLang="en-US"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6E1624-DBC9-9DBE-EDD6-B01F83A72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프로젝트 진행상황을 관리할 수 있는 방법은 없을까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목표 설정</a:t>
            </a:r>
            <a:r>
              <a:rPr lang="en-US" altLang="ko-KR"/>
              <a:t>, </a:t>
            </a:r>
            <a:r>
              <a:rPr lang="ko-KR" altLang="en-US"/>
              <a:t>작업 할당 등</a:t>
            </a:r>
            <a:r>
              <a:rPr lang="en-US" altLang="ko-KR"/>
              <a:t>..</a:t>
            </a:r>
          </a:p>
          <a:p>
            <a:r>
              <a:rPr lang="ko-KR" altLang="en-US"/>
              <a:t>이슈 추적을 쉽게 할 방법은 없을까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이슈 상태 추적</a:t>
            </a:r>
            <a:r>
              <a:rPr lang="en-US" altLang="ko-KR"/>
              <a:t>, </a:t>
            </a:r>
            <a:r>
              <a:rPr lang="ko-KR" altLang="en-US"/>
              <a:t>우선순위 할당</a:t>
            </a:r>
            <a:r>
              <a:rPr lang="en-US" altLang="ko-KR"/>
              <a:t>, </a:t>
            </a:r>
            <a:r>
              <a:rPr lang="ko-KR" altLang="en-US"/>
              <a:t>책임자 배정 등</a:t>
            </a:r>
            <a:r>
              <a:rPr lang="en-US" altLang="ko-KR"/>
              <a:t>..</a:t>
            </a:r>
          </a:p>
          <a:p>
            <a:r>
              <a:rPr lang="ko-KR" altLang="en-US"/>
              <a:t>협업을 쉽게 할 수 있는 도구는 없을까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회의록 정리</a:t>
            </a:r>
            <a:r>
              <a:rPr lang="en-US" altLang="ko-KR"/>
              <a:t>, </a:t>
            </a:r>
            <a:r>
              <a:rPr lang="ko-KR" altLang="en-US"/>
              <a:t>보고서 작성 등</a:t>
            </a:r>
            <a:r>
              <a:rPr lang="en-US" altLang="ko-KR"/>
              <a:t>..</a:t>
            </a:r>
          </a:p>
          <a:p>
            <a:r>
              <a:rPr lang="ko-KR" altLang="en-US"/>
              <a:t>다양한 도구들을 하나로 통합할 수는 없을까</a:t>
            </a:r>
            <a:r>
              <a:rPr lang="en-US" altLang="ko-KR"/>
              <a:t>?</a:t>
            </a:r>
          </a:p>
          <a:p>
            <a:pPr lvl="1"/>
            <a:r>
              <a:rPr lang="en-US" altLang="ko-KR" err="1"/>
              <a:t>Github</a:t>
            </a:r>
            <a:r>
              <a:rPr lang="en-US" altLang="ko-KR"/>
              <a:t>, Notion</a:t>
            </a:r>
            <a:r>
              <a:rPr lang="ko-KR" altLang="en-US"/>
              <a:t> 등</a:t>
            </a:r>
            <a:r>
              <a:rPr lang="en-US" altLang="ko-KR"/>
              <a:t>..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30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CC4E6-570D-6C73-E983-3BF0FDFB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3ACDC-8F2C-F893-BF42-E132E5BD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+mn-ea"/>
              </a:rPr>
              <a:t>JIRA?</a:t>
            </a:r>
            <a:endParaRPr lang="ko-KR" altLang="en-US"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07BE4-9D20-87E2-494A-DCEA0C981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Atlassian</a:t>
            </a:r>
            <a:r>
              <a:rPr lang="ko-KR" altLang="en-US"/>
              <a:t>이 개발한 이슈 추적 및 프로젝트 관리 프로그램</a:t>
            </a:r>
            <a:endParaRPr lang="en-US" altLang="ko-KR"/>
          </a:p>
          <a:p>
            <a:pPr lvl="1"/>
            <a:r>
              <a:rPr lang="ko-KR" altLang="en-US"/>
              <a:t>이슈 추적</a:t>
            </a:r>
            <a:r>
              <a:rPr lang="en-US" altLang="ko-KR"/>
              <a:t>, </a:t>
            </a:r>
            <a:r>
              <a:rPr lang="ko-KR" altLang="en-US"/>
              <a:t>프로젝트 현황</a:t>
            </a:r>
            <a:r>
              <a:rPr lang="en-US" altLang="ko-KR"/>
              <a:t>, </a:t>
            </a:r>
            <a:r>
              <a:rPr lang="ko-KR" altLang="en-US"/>
              <a:t>워크플로우</a:t>
            </a:r>
            <a:r>
              <a:rPr lang="en-US" altLang="ko-KR"/>
              <a:t>, </a:t>
            </a:r>
            <a:r>
              <a:rPr lang="ko-KR" altLang="en-US"/>
              <a:t>다양한 협업기능 등 제공</a:t>
            </a:r>
            <a:endParaRPr lang="en-US" altLang="ko-KR"/>
          </a:p>
          <a:p>
            <a:pPr lvl="1"/>
            <a:r>
              <a:rPr lang="en-US" altLang="ko-KR"/>
              <a:t>Java</a:t>
            </a:r>
            <a:r>
              <a:rPr lang="ko-KR" altLang="en-US"/>
              <a:t>로 작성</a:t>
            </a:r>
            <a:endParaRPr lang="en-US" altLang="ko-KR"/>
          </a:p>
          <a:p>
            <a:pPr lvl="1"/>
            <a:r>
              <a:rPr lang="en-US" altLang="ko-KR"/>
              <a:t>190</a:t>
            </a:r>
            <a:r>
              <a:rPr lang="ko-KR" altLang="en-US"/>
              <a:t>개국 </a:t>
            </a:r>
            <a:r>
              <a:rPr lang="en-US" altLang="ko-KR"/>
              <a:t>180,000</a:t>
            </a:r>
            <a:r>
              <a:rPr lang="ko-KR" altLang="en-US"/>
              <a:t>명 이상이 사용하는 소프트웨어</a:t>
            </a:r>
            <a:endParaRPr lang="en-US" altLang="ko-KR"/>
          </a:p>
          <a:p>
            <a:pPr lvl="1"/>
            <a:r>
              <a:rPr lang="en-US" altLang="ko-KR"/>
              <a:t>Jira</a:t>
            </a:r>
            <a:r>
              <a:rPr lang="ko-KR" altLang="en-US"/>
              <a:t>라는 이름은 개발 당시 </a:t>
            </a:r>
            <a:r>
              <a:rPr lang="en-US" altLang="ko-KR" err="1"/>
              <a:t>bugzilla</a:t>
            </a:r>
            <a:r>
              <a:rPr lang="ko-KR" altLang="en-US"/>
              <a:t>를 </a:t>
            </a:r>
            <a:r>
              <a:rPr lang="en-US" altLang="ko-KR" err="1"/>
              <a:t>gojira</a:t>
            </a:r>
            <a:r>
              <a:rPr lang="ko-KR" altLang="en-US"/>
              <a:t>라고 부르던 것에서 유래</a:t>
            </a:r>
            <a:endParaRPr lang="en-US" altLang="ko-KR"/>
          </a:p>
        </p:txBody>
      </p:sp>
      <p:pic>
        <p:nvPicPr>
          <p:cNvPr id="1026" name="Picture 2" descr="Jira (software) - Wikipedia">
            <a:extLst>
              <a:ext uri="{FF2B5EF4-FFF2-40B4-BE49-F238E27FC236}">
                <a16:creationId xmlns:a16="http://schemas.microsoft.com/office/drawing/2014/main" id="{32E3882B-22FD-2B04-2DA6-E1FAD3177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058843"/>
            <a:ext cx="2860158" cy="1206132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028" name="Picture 4" descr="Atlassian - 나무위키">
            <a:extLst>
              <a:ext uri="{FF2B5EF4-FFF2-40B4-BE49-F238E27FC236}">
                <a16:creationId xmlns:a16="http://schemas.microsoft.com/office/drawing/2014/main" id="{E82A30EC-E192-D91B-E496-0CAF01742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728" y="3356673"/>
            <a:ext cx="4883766" cy="61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99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15C0-DCA8-34FF-A136-F90188F6C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676DC-A8FC-99F7-01DD-122AD618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이슈</a:t>
            </a:r>
            <a:r>
              <a:rPr lang="en-US" altLang="ko-KR">
                <a:ea typeface="+mn-ea"/>
              </a:rPr>
              <a:t>(</a:t>
            </a:r>
            <a:r>
              <a:rPr lang="ko-KR" altLang="en-US">
                <a:ea typeface="+mn-ea"/>
              </a:rPr>
              <a:t>업무유형</a:t>
            </a:r>
            <a:r>
              <a:rPr lang="en-US" altLang="ko-KR">
                <a:ea typeface="+mn-ea"/>
              </a:rPr>
              <a:t>)?</a:t>
            </a:r>
            <a:endParaRPr lang="ko-KR" altLang="en-US"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97F40-05AF-B02D-0888-C83D2C3CD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완료해야 하는 개별 작업 및 버그를 추적하기 위해 사용</a:t>
            </a:r>
            <a:endParaRPr lang="en-US" altLang="ko-KR"/>
          </a:p>
          <a:p>
            <a:pPr lvl="1"/>
            <a:r>
              <a:rPr lang="ko-KR" altLang="en-US"/>
              <a:t>큰 기능</a:t>
            </a:r>
            <a:r>
              <a:rPr lang="en-US" altLang="ko-KR"/>
              <a:t>, </a:t>
            </a:r>
            <a:r>
              <a:rPr lang="ko-KR" altLang="en-US"/>
              <a:t>사용자 요구 사항 및 소프트웨어 버그와 같은 개별 업무 항목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JIRA</a:t>
            </a:r>
            <a:r>
              <a:rPr lang="ko-KR" altLang="en-US"/>
              <a:t>에서는 업무 유형을 다음과 같이 정의</a:t>
            </a:r>
            <a:endParaRPr lang="en-US" altLang="ko-KR"/>
          </a:p>
          <a:p>
            <a:pPr lvl="1"/>
            <a:r>
              <a:rPr lang="ko-KR" altLang="en-US" err="1"/>
              <a:t>에픽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큰 규모의 업무 </a:t>
            </a:r>
            <a:endParaRPr lang="en-US" altLang="ko-KR"/>
          </a:p>
          <a:p>
            <a:pPr lvl="1"/>
            <a:r>
              <a:rPr lang="ko-KR" altLang="en-US"/>
              <a:t>작업 </a:t>
            </a:r>
            <a:r>
              <a:rPr lang="en-US" altLang="ko-KR"/>
              <a:t>: </a:t>
            </a:r>
            <a:r>
              <a:rPr lang="ko-KR" altLang="en-US"/>
              <a:t>해야 할 작업</a:t>
            </a:r>
            <a:r>
              <a:rPr lang="en-US" altLang="ko-KR"/>
              <a:t>, </a:t>
            </a:r>
            <a:r>
              <a:rPr lang="ko-KR" altLang="en-US"/>
              <a:t>다른 업무 유형으로 정확한 표현이 어려운 경우 사용</a:t>
            </a:r>
            <a:endParaRPr lang="en-US" altLang="ko-KR"/>
          </a:p>
          <a:p>
            <a:pPr lvl="1"/>
            <a:r>
              <a:rPr lang="ko-KR" altLang="en-US"/>
              <a:t>스토리 </a:t>
            </a:r>
            <a:r>
              <a:rPr lang="en-US" altLang="ko-KR"/>
              <a:t>: </a:t>
            </a:r>
            <a:r>
              <a:rPr lang="ko-KR" altLang="en-US"/>
              <a:t>사용자 관점에서 표현한 요구 사항</a:t>
            </a:r>
            <a:endParaRPr lang="en-US" altLang="ko-KR"/>
          </a:p>
          <a:p>
            <a:pPr lvl="1"/>
            <a:r>
              <a:rPr lang="ko-KR" altLang="en-US"/>
              <a:t>버그 </a:t>
            </a:r>
            <a:r>
              <a:rPr lang="en-US" altLang="ko-KR"/>
              <a:t>: </a:t>
            </a:r>
            <a:r>
              <a:rPr lang="ko-KR" altLang="en-US" err="1"/>
              <a:t>해결해야할</a:t>
            </a:r>
            <a:r>
              <a:rPr lang="ko-KR" altLang="en-US"/>
              <a:t> 문제</a:t>
            </a:r>
            <a:endParaRPr lang="en-US" altLang="ko-KR"/>
          </a:p>
          <a:p>
            <a:pPr lvl="1"/>
            <a:r>
              <a:rPr lang="ko-KR" altLang="en-US"/>
              <a:t>하위 작업 </a:t>
            </a:r>
            <a:r>
              <a:rPr lang="en-US" altLang="ko-KR"/>
              <a:t>: </a:t>
            </a:r>
            <a:r>
              <a:rPr lang="ko-KR" altLang="en-US"/>
              <a:t>표준 업무 항목을 완료하는 데 필요한 작업을 세분화하여 표현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96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8659-6DB8-EDA7-B569-F4C5F1A4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C8932-EAD5-DA33-A2FC-B364EE31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이슈</a:t>
            </a:r>
            <a:r>
              <a:rPr lang="en-US" altLang="ko-KR">
                <a:ea typeface="+mn-ea"/>
              </a:rPr>
              <a:t>(</a:t>
            </a:r>
            <a:r>
              <a:rPr lang="ko-KR" altLang="en-US">
                <a:ea typeface="+mn-ea"/>
              </a:rPr>
              <a:t>업무유형</a:t>
            </a:r>
            <a:r>
              <a:rPr lang="en-US" altLang="ko-KR">
                <a:ea typeface="+mn-ea"/>
              </a:rPr>
              <a:t>)?</a:t>
            </a:r>
            <a:endParaRPr lang="ko-KR" altLang="en-US">
              <a:ea typeface="+mn-ea"/>
            </a:endParaRPr>
          </a:p>
        </p:txBody>
      </p:sp>
      <p:pic>
        <p:nvPicPr>
          <p:cNvPr id="2050" name="Picture 2" descr="Jira 업무 항목 계층 구조 다이어그램">
            <a:extLst>
              <a:ext uri="{FF2B5EF4-FFF2-40B4-BE49-F238E27FC236}">
                <a16:creationId xmlns:a16="http://schemas.microsoft.com/office/drawing/2014/main" id="{851E6A55-68B6-5AFE-E047-4C9C6EDE3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8893"/>
            <a:ext cx="9144000" cy="340995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872016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AB73-7C20-E2A7-77A3-5610EFE6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C04A5-115C-50AE-F105-0C093AF1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+mn-ea"/>
              </a:rPr>
              <a:t>JIRA</a:t>
            </a:r>
            <a:r>
              <a:rPr lang="ko-KR" altLang="en-US">
                <a:ea typeface="+mn-ea"/>
              </a:rPr>
              <a:t>의 기본 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DE1E5-2463-0296-7075-235E5CD3B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JIRA</a:t>
            </a:r>
            <a:r>
              <a:rPr lang="ko-KR" altLang="en-US"/>
              <a:t> 홈페이지 접속</a:t>
            </a:r>
            <a:endParaRPr lang="en-US" altLang="ko-KR"/>
          </a:p>
          <a:p>
            <a:pPr lvl="1"/>
            <a:r>
              <a:rPr lang="en-US" altLang="ko-KR"/>
              <a:t>JIRA Cloud </a:t>
            </a:r>
            <a:r>
              <a:rPr lang="ko-KR" altLang="en-US"/>
              <a:t>사용가능</a:t>
            </a:r>
            <a:endParaRPr lang="en-US" altLang="ko-KR"/>
          </a:p>
          <a:p>
            <a:pPr lvl="1"/>
            <a:r>
              <a:rPr lang="en-US" altLang="ko-KR"/>
              <a:t>Atlassian </a:t>
            </a:r>
            <a:r>
              <a:rPr lang="ko-KR" altLang="en-US"/>
              <a:t>계정 필요</a:t>
            </a:r>
            <a:endParaRPr lang="en-US" altLang="ko-KR"/>
          </a:p>
          <a:p>
            <a:pPr lvl="1"/>
            <a:r>
              <a:rPr lang="ko-KR" altLang="en-US"/>
              <a:t>무료 요금제 사용 가능 </a:t>
            </a:r>
            <a:r>
              <a:rPr lang="en-US" altLang="ko-KR"/>
              <a:t>(</a:t>
            </a:r>
            <a:r>
              <a:rPr lang="ko-KR" altLang="en-US"/>
              <a:t>일부 기능 제한</a:t>
            </a:r>
            <a:r>
              <a:rPr lang="en-US" altLang="ko-KR"/>
              <a:t>)</a:t>
            </a:r>
          </a:p>
          <a:p>
            <a:pPr lvl="1"/>
            <a:endParaRPr lang="en-US" altLang="ko-KR"/>
          </a:p>
          <a:p>
            <a:pPr lvl="1"/>
            <a:r>
              <a:rPr lang="en-US" altLang="ko-KR"/>
              <a:t>https://www.atlassian.com/ko/software/jira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4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1E41-F7CE-8E35-57A9-CA9C3842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887D6-FA4A-4CF9-AA42-7EAB652A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+mn-ea"/>
              </a:rPr>
              <a:t>JIRA</a:t>
            </a:r>
            <a:r>
              <a:rPr lang="ko-KR" altLang="en-US">
                <a:ea typeface="+mn-ea"/>
              </a:rPr>
              <a:t>의 기본 사용법 </a:t>
            </a:r>
            <a:r>
              <a:rPr lang="en-US" altLang="ko-KR">
                <a:ea typeface="+mn-ea"/>
              </a:rPr>
              <a:t>– </a:t>
            </a:r>
            <a:r>
              <a:rPr lang="ko-KR" altLang="en-US">
                <a:ea typeface="+mn-ea"/>
              </a:rPr>
              <a:t>스페이스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B317FC-71F6-3EB5-7929-8D9AAB1DD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JIRA </a:t>
            </a:r>
            <a:r>
              <a:rPr lang="ko-KR" altLang="en-US"/>
              <a:t>메인 페이지 </a:t>
            </a:r>
            <a:r>
              <a:rPr lang="en-US" altLang="ko-KR"/>
              <a:t>– </a:t>
            </a:r>
            <a:r>
              <a:rPr lang="ko-KR" altLang="en-US"/>
              <a:t>만들기 선택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OR, </a:t>
            </a:r>
            <a:r>
              <a:rPr lang="ko-KR" altLang="en-US"/>
              <a:t>좌측 메뉴에서 스페이스 추가 선택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BAA6E4-F057-E267-A960-9C50D8EB4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15" y="1702538"/>
            <a:ext cx="8564170" cy="4667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CFC6FBA-C9E7-9164-A3CB-FDAF997276A6}"/>
              </a:ext>
            </a:extLst>
          </p:cNvPr>
          <p:cNvSpPr/>
          <p:nvPr/>
        </p:nvSpPr>
        <p:spPr>
          <a:xfrm>
            <a:off x="7643191" y="1742294"/>
            <a:ext cx="882098" cy="3551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C272C1-D0EB-62A9-D3B8-574EAC237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791" y="2905329"/>
            <a:ext cx="2219635" cy="192431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4715DE2-3CF6-CBF9-80EE-BF38517319FA}"/>
              </a:ext>
            </a:extLst>
          </p:cNvPr>
          <p:cNvSpPr/>
          <p:nvPr/>
        </p:nvSpPr>
        <p:spPr>
          <a:xfrm>
            <a:off x="3657600" y="4528038"/>
            <a:ext cx="246185" cy="3016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31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DE434-D6BF-8782-0B37-C38694550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AD653-9A29-76CD-AFF0-8D28F16B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+mn-ea"/>
              </a:rPr>
              <a:t>JIRA</a:t>
            </a:r>
            <a:r>
              <a:rPr lang="ko-KR" altLang="en-US">
                <a:ea typeface="+mn-ea"/>
              </a:rPr>
              <a:t>의 기본 사용법 </a:t>
            </a:r>
            <a:r>
              <a:rPr lang="en-US" altLang="ko-KR">
                <a:ea typeface="+mn-ea"/>
              </a:rPr>
              <a:t>– </a:t>
            </a:r>
            <a:r>
              <a:rPr lang="ko-KR" altLang="en-US">
                <a:ea typeface="+mn-ea"/>
              </a:rPr>
              <a:t>이슈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5342DF-C838-0912-E255-076D19AE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JIRA </a:t>
            </a:r>
            <a:r>
              <a:rPr lang="ko-KR" altLang="en-US"/>
              <a:t>메인 페이지 </a:t>
            </a:r>
            <a:r>
              <a:rPr lang="en-US" altLang="ko-KR"/>
              <a:t>– </a:t>
            </a:r>
            <a:r>
              <a:rPr lang="ko-KR" altLang="en-US"/>
              <a:t>만들기 선택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OR, </a:t>
            </a:r>
            <a:r>
              <a:rPr lang="ko-KR" altLang="en-US"/>
              <a:t>스페이스 내부에서 직접 생성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C1A056-C15A-AEBA-1E56-25E770C86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15" y="1702538"/>
            <a:ext cx="8564170" cy="4667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95376C3-7E5E-2A34-E18A-47661C031133}"/>
              </a:ext>
            </a:extLst>
          </p:cNvPr>
          <p:cNvSpPr/>
          <p:nvPr/>
        </p:nvSpPr>
        <p:spPr>
          <a:xfrm>
            <a:off x="7643191" y="1742294"/>
            <a:ext cx="882098" cy="3551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E1A1B3-D7D3-AEA6-0EF4-4887D5C84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41" y="3169370"/>
            <a:ext cx="8726118" cy="99073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2369772-A681-FDF6-83F5-D9BC3DCCA526}"/>
              </a:ext>
            </a:extLst>
          </p:cNvPr>
          <p:cNvSpPr/>
          <p:nvPr/>
        </p:nvSpPr>
        <p:spPr>
          <a:xfrm>
            <a:off x="289915" y="3664739"/>
            <a:ext cx="882098" cy="3551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EC4CB8-463C-DFA1-3AFD-E82FCC3FF200}"/>
              </a:ext>
            </a:extLst>
          </p:cNvPr>
          <p:cNvSpPr/>
          <p:nvPr/>
        </p:nvSpPr>
        <p:spPr>
          <a:xfrm>
            <a:off x="2965708" y="3664739"/>
            <a:ext cx="882098" cy="3551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0E17FC-B6B9-0E6A-2562-5B356EDAC516}"/>
              </a:ext>
            </a:extLst>
          </p:cNvPr>
          <p:cNvSpPr/>
          <p:nvPr/>
        </p:nvSpPr>
        <p:spPr>
          <a:xfrm>
            <a:off x="5641501" y="3664739"/>
            <a:ext cx="882098" cy="3551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40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9FE47-1A47-5D9E-4605-7C4185F9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2AB19E-8310-B8CB-B9AB-04867FB63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805" y="-706"/>
            <a:ext cx="3490868" cy="514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4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796C8-ABE8-CC53-E32E-05D2583BC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A8AF66-D8D9-1A44-F146-1AF766D49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693" y="1625905"/>
            <a:ext cx="1859444" cy="2988102"/>
          </a:xfrm>
          <a:prstGeom prst="rect">
            <a:avLst/>
          </a:prstGeom>
        </p:spPr>
      </p:pic>
      <p:pic>
        <p:nvPicPr>
          <p:cNvPr id="14" name="그림 1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2CD83F-90E1-77ED-EBA7-143CD3FCA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343" y="1673296"/>
            <a:ext cx="2381657" cy="24932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FA3191-A787-A81F-75C9-B5D64F73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+mn-ea"/>
              </a:rPr>
              <a:t>JIRA</a:t>
            </a:r>
            <a:r>
              <a:rPr lang="ko-KR" altLang="en-US">
                <a:ea typeface="+mn-ea"/>
              </a:rPr>
              <a:t>의 기본 사용법 </a:t>
            </a:r>
            <a:r>
              <a:rPr lang="en-US" altLang="ko-KR">
                <a:ea typeface="+mn-ea"/>
              </a:rPr>
              <a:t>– </a:t>
            </a:r>
            <a:r>
              <a:rPr lang="ko-KR" altLang="en-US">
                <a:ea typeface="+mn-ea"/>
              </a:rPr>
              <a:t>업무유형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FE5EE7-01D3-AC1A-90E7-317E1F47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스페이스 메뉴 </a:t>
            </a:r>
            <a:r>
              <a:rPr lang="en-US" altLang="ko-KR"/>
              <a:t>– </a:t>
            </a:r>
            <a:r>
              <a:rPr lang="ko-KR" altLang="en-US"/>
              <a:t>스페이스 설정 </a:t>
            </a:r>
            <a:r>
              <a:rPr lang="en-US" altLang="ko-KR"/>
              <a:t>– </a:t>
            </a:r>
            <a:r>
              <a:rPr lang="ko-KR" altLang="en-US"/>
              <a:t>업무유형 </a:t>
            </a:r>
            <a:r>
              <a:rPr lang="en-US" altLang="ko-KR"/>
              <a:t>– </a:t>
            </a:r>
            <a:r>
              <a:rPr lang="ko-KR" altLang="en-US"/>
              <a:t>업무유형 추가</a:t>
            </a:r>
            <a:endParaRPr lang="en-US" altLang="ko-KR"/>
          </a:p>
          <a:p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7EC22E-8666-9AC1-3B5D-477E580726B8}"/>
              </a:ext>
            </a:extLst>
          </p:cNvPr>
          <p:cNvSpPr/>
          <p:nvPr/>
        </p:nvSpPr>
        <p:spPr>
          <a:xfrm>
            <a:off x="2016115" y="3072912"/>
            <a:ext cx="788632" cy="1890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C057C3-81C2-E52C-3587-60F937B5233E}"/>
              </a:ext>
            </a:extLst>
          </p:cNvPr>
          <p:cNvSpPr/>
          <p:nvPr/>
        </p:nvSpPr>
        <p:spPr>
          <a:xfrm>
            <a:off x="3692769" y="4088423"/>
            <a:ext cx="756139" cy="21101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3A842B-3C0D-AD07-EFA9-BECF3015B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426" y="2823381"/>
            <a:ext cx="2219635" cy="134321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735849-20D2-E77F-4182-CAF43CDDAD77}"/>
              </a:ext>
            </a:extLst>
          </p:cNvPr>
          <p:cNvSpPr/>
          <p:nvPr/>
        </p:nvSpPr>
        <p:spPr>
          <a:xfrm>
            <a:off x="6052038" y="3877408"/>
            <a:ext cx="1201616" cy="2891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84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628650" y="558266"/>
            <a:ext cx="7886700" cy="40744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Software Tool Time (</a:t>
            </a:r>
            <a:r>
              <a:rPr lang="ko-KR" altLang="en-US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소프트웨어 툴 타임</a:t>
            </a:r>
            <a:r>
              <a:rPr lang="en-US" altLang="ko-KR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en-US" altLang="ko-KR" sz="1600">
                <a:latin typeface="+mn-ea"/>
                <a:cs typeface="Arial" panose="020B0604020202020204" pitchFamily="34" charset="0"/>
              </a:rPr>
              <a:t>(CC-BY-NC 4.0) Ajou University</a:t>
            </a:r>
          </a:p>
          <a:p>
            <a:pPr marL="0" indent="0" algn="ctr">
              <a:buNone/>
            </a:pPr>
            <a:endParaRPr lang="en-US" altLang="ko-KR" sz="1600"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600">
                <a:latin typeface="+mn-ea"/>
                <a:cs typeface="Arial" panose="020B0604020202020204" pitchFamily="34" charset="0"/>
              </a:rPr>
              <a:t>Visit “Software Tool Time” channel in YouTube :</a:t>
            </a:r>
            <a:r>
              <a:rPr lang="en-US" altLang="ko-KR" sz="160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60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https://www.youtube.com/c/SoftwareToolTime</a:t>
            </a:r>
            <a:r>
              <a:rPr lang="en-US" altLang="ko-KR" sz="1600">
                <a:latin typeface="+mn-ea"/>
                <a:cs typeface="Arial" panose="020B0604020202020204" pitchFamily="34" charset="0"/>
              </a:rPr>
              <a:t> </a:t>
            </a:r>
            <a:br>
              <a:rPr lang="en-US" altLang="ko-KR" sz="160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Arial" panose="020B0604020202020204" pitchFamily="34" charset="0"/>
              </a:rPr>
            </a:br>
            <a:endParaRPr lang="en-US" altLang="ko-KR" sz="160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All product names, trademarks, and/or company names are used solely for identification and belong to their respective owners.</a:t>
            </a: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“Software Tool Time” video is licensed to the public under a Creative Commons Attribution 4.0 License  (https://creativecommons.org/license/by/4.0/) </a:t>
            </a: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Twin </a:t>
            </a:r>
            <a:r>
              <a:rPr lang="en-US" altLang="ko-KR" sz="1500" err="1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Musicom’s</a:t>
            </a:r>
            <a:r>
              <a:rPr lang="ko-KR" altLang="en-US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African Drums (Sting) is licensed to the to the public under a Creative Commons Attribution 4.0 License (Artist: http://www.twinmusicom.org/)</a:t>
            </a:r>
          </a:p>
        </p:txBody>
      </p:sp>
      <p:pic>
        <p:nvPicPr>
          <p:cNvPr id="2050" name="Picture 2" descr="Creative Commons">
            <a:extLst>
              <a:ext uri="{FF2B5EF4-FFF2-40B4-BE49-F238E27FC236}">
                <a16:creationId xmlns:a16="http://schemas.microsoft.com/office/drawing/2014/main" id="{6AE06B9F-FD0B-4C77-AC7E-03A6408D6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632723"/>
            <a:ext cx="1159042" cy="28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48356DE-CE21-4391-8E51-CF1FEFD7FB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758" y="268669"/>
            <a:ext cx="743671" cy="75783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6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B87ECA76-32A7-4267-9D4E-8F36C49682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1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7FD49-CD4C-E222-0C49-99B102DD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1AD47-9AE2-C62C-A443-3CDB403E6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5B1B90-0073-13FD-4BE6-308A7595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83" y="0"/>
            <a:ext cx="9241766" cy="514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14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2&quot;/&gt;&lt;property id=&quot;20307&quot; value=&quot;256&quot;/&gt;&lt;/object&gt;&lt;object type=&quot;3&quot; unique_id=&quot;10004&quot;&gt;&lt;property id=&quot;20148&quot; value=&quot;5&quot;/&gt;&lt;property id=&quot;20300&quot; value=&quot;Slide 6&quot;/&gt;&lt;property id=&quot;20307&quot; value=&quot;257&quot;/&gt;&lt;/object&gt;&lt;object type=&quot;3&quot; unique_id=&quot;10021&quot;&gt;&lt;property id=&quot;20148&quot; value=&quot;5&quot;/&gt;&lt;property id=&quot;20300&quot; value=&quot;Slide 3 - &amp;quot;Lecture : vi editor 초보편&amp;quot;&quot;/&gt;&lt;property id=&quot;20307&quot; value=&quot;258&quot;/&gt;&lt;/object&gt;&lt;object type=&quot;3&quot; unique_id=&quot;10047&quot;&gt;&lt;property id=&quot;20148&quot; value=&quot;5&quot;/&gt;&lt;property id=&quot;20300&quot; value=&quot;Slide 4 - &amp;quot;여기 부터 강의&amp;quot;&quot;/&gt;&lt;property id=&quot;20307&quot; value=&quot;260&quot;/&gt;&lt;/object&gt;&lt;object type=&quot;3&quot; unique_id=&quot;10048&quot;&gt;&lt;property id=&quot;20148&quot; value=&quot;5&quot;/&gt;&lt;property id=&quot;20300&quot; value=&quot;Slide 5 - &amp;quot;Lecture : vi editor 초보편&amp;quot;&quot;/&gt;&lt;property id=&quot;20307&quot; value=&quot;259&quot;/&gt;&lt;/object&gt;&lt;object type=&quot;3&quot; unique_id=&quot;10071&quot;&gt;&lt;property id=&quot;20148&quot; value=&quot;5&quot;/&gt;&lt;property id=&quot;20300&quot; value=&quot;Slide 1 - &amp;quot;Are you ready?&amp;quot;&quot;/&gt;&lt;property id=&quot;20307&quot; value=&quot;261&quot;/&gt;&lt;/object&gt;&lt;/object&gt;&lt;object type=&quot;8&quot; unique_id=&quot;1000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14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JIRA로 프로젝트 효율적으로 관리하기 1</vt:lpstr>
      <vt:lpstr>소프트웨어 개발 방법론?</vt:lpstr>
      <vt:lpstr>프로젝트 관리 도구?</vt:lpstr>
      <vt:lpstr>JIRA?</vt:lpstr>
      <vt:lpstr>이슈(업무유형)?</vt:lpstr>
      <vt:lpstr>이슈(업무유형)?</vt:lpstr>
      <vt:lpstr>JIRA의 기본 사용법</vt:lpstr>
      <vt:lpstr>JIRA의 기본 사용법 – 스페이스 생성</vt:lpstr>
      <vt:lpstr>JIRA의 기본 사용법 – 이슈 생성</vt:lpstr>
      <vt:lpstr>PowerPoint Presentation</vt:lpstr>
      <vt:lpstr>JIRA의 기본 사용법 – 업무유형 추가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HyL</dc:creator>
  <cp:revision>1</cp:revision>
  <dcterms:created xsi:type="dcterms:W3CDTF">2017-03-17T07:48:16Z</dcterms:created>
  <dcterms:modified xsi:type="dcterms:W3CDTF">2025-12-14T09:23:07Z</dcterms:modified>
</cp:coreProperties>
</file>